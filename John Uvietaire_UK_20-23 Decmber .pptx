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10058400" cx="7315200"/>
  <p:notesSz cx="6858000" cy="9144000"/>
  <p:embeddedFontLst>
    <p:embeddedFont>
      <p:font typeface="Roboto"/>
      <p:regular r:id="rId20"/>
      <p:bold r:id="rId21"/>
      <p:italic r:id="rId22"/>
      <p:boldItalic r:id="rId23"/>
    </p:embeddedFont>
    <p:embeddedFont>
      <p:font typeface="Montserrat"/>
      <p:regular r:id="rId24"/>
      <p:bold r:id="rId25"/>
      <p:italic r:id="rId26"/>
      <p:boldItalic r:id="rId27"/>
    </p:embeddedFont>
    <p:embeddedFont>
      <p:font typeface="Montserrat Medium"/>
      <p:regular r:id="rId28"/>
      <p:bold r:id="rId29"/>
      <p:italic r:id="rId30"/>
      <p:boldItalic r:id="rId31"/>
    </p:embeddedFont>
    <p:embeddedFont>
      <p:font typeface="Montserrat ExtraBold"/>
      <p:bold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A4A3A4"/>
          </p15:clr>
        </p15:guide>
        <p15:guide id="2" pos="230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7E0F8FC-8036-428D-9FA3-0018E0DB62D4}">
  <a:tblStyle styleId="{67E0F8FC-8036-428D-9FA3-0018E0DB62D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DEDEF67-B883-45D8-8B7B-BBF3838E658C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230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Montserrat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MontserratMedium-regular.fntdata"/><Relationship Id="rId27" Type="http://schemas.openxmlformats.org/officeDocument/2006/relationships/font" Target="fonts/Montserrat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MontserratMedium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MontserratMedium-boldItalic.fntdata"/><Relationship Id="rId30" Type="http://schemas.openxmlformats.org/officeDocument/2006/relationships/font" Target="fonts/MontserratMedium-italic.fntdata"/><Relationship Id="rId11" Type="http://schemas.openxmlformats.org/officeDocument/2006/relationships/slide" Target="slides/slide4.xml"/><Relationship Id="rId33" Type="http://schemas.openxmlformats.org/officeDocument/2006/relationships/font" Target="fonts/MontserratExtraBold-boldItalic.fntdata"/><Relationship Id="rId10" Type="http://schemas.openxmlformats.org/officeDocument/2006/relationships/slide" Target="slides/slide3.xml"/><Relationship Id="rId32" Type="http://schemas.openxmlformats.org/officeDocument/2006/relationships/font" Target="fonts/MontserratExtraBold-bold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82413" y="685800"/>
            <a:ext cx="2493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:notes"/>
          <p:cNvSpPr/>
          <p:nvPr>
            <p:ph idx="2" type="sldImg"/>
          </p:nvPr>
        </p:nvSpPr>
        <p:spPr>
          <a:xfrm>
            <a:off x="2182413" y="685800"/>
            <a:ext cx="2493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02bbfa126a_0_74:notes"/>
          <p:cNvSpPr/>
          <p:nvPr>
            <p:ph idx="2" type="sldImg"/>
          </p:nvPr>
        </p:nvSpPr>
        <p:spPr>
          <a:xfrm>
            <a:off x="2182413" y="685800"/>
            <a:ext cx="2493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02bbfa126a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3563fccd1c_0_2:notes"/>
          <p:cNvSpPr/>
          <p:nvPr>
            <p:ph idx="2" type="sldImg"/>
          </p:nvPr>
        </p:nvSpPr>
        <p:spPr>
          <a:xfrm>
            <a:off x="2182390" y="685800"/>
            <a:ext cx="2493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3563fccd1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3563fccd1c_0_14:notes"/>
          <p:cNvSpPr/>
          <p:nvPr>
            <p:ph idx="2" type="sldImg"/>
          </p:nvPr>
        </p:nvSpPr>
        <p:spPr>
          <a:xfrm>
            <a:off x="2182413" y="685800"/>
            <a:ext cx="2493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3563fccd1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0be541150_1_28:notes"/>
          <p:cNvSpPr/>
          <p:nvPr>
            <p:ph idx="2" type="sldImg"/>
          </p:nvPr>
        </p:nvSpPr>
        <p:spPr>
          <a:xfrm>
            <a:off x="2182390" y="685800"/>
            <a:ext cx="2493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0be541150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0be541150_1_20:notes"/>
          <p:cNvSpPr/>
          <p:nvPr>
            <p:ph idx="2" type="sldImg"/>
          </p:nvPr>
        </p:nvSpPr>
        <p:spPr>
          <a:xfrm>
            <a:off x="2182413" y="685800"/>
            <a:ext cx="2493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0be541150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0be541150_1_48:notes"/>
          <p:cNvSpPr/>
          <p:nvPr>
            <p:ph idx="2" type="sldImg"/>
          </p:nvPr>
        </p:nvSpPr>
        <p:spPr>
          <a:xfrm>
            <a:off x="2182390" y="685800"/>
            <a:ext cx="2493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0be541150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0be541150_1_55:notes"/>
          <p:cNvSpPr/>
          <p:nvPr>
            <p:ph idx="2" type="sldImg"/>
          </p:nvPr>
        </p:nvSpPr>
        <p:spPr>
          <a:xfrm>
            <a:off x="2182413" y="685800"/>
            <a:ext cx="2493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0be541150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170d8d16d_0_23:notes"/>
          <p:cNvSpPr/>
          <p:nvPr>
            <p:ph idx="2" type="sldImg"/>
          </p:nvPr>
        </p:nvSpPr>
        <p:spPr>
          <a:xfrm>
            <a:off x="2182413" y="685800"/>
            <a:ext cx="2493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a170d8d16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170d8d16d_0_43:notes"/>
          <p:cNvSpPr/>
          <p:nvPr>
            <p:ph idx="2" type="sldImg"/>
          </p:nvPr>
        </p:nvSpPr>
        <p:spPr>
          <a:xfrm>
            <a:off x="2182413" y="685800"/>
            <a:ext cx="2493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170d8d16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170d8d16d_0_67:notes"/>
          <p:cNvSpPr/>
          <p:nvPr>
            <p:ph idx="2" type="sldImg"/>
          </p:nvPr>
        </p:nvSpPr>
        <p:spPr>
          <a:xfrm>
            <a:off x="2182390" y="685800"/>
            <a:ext cx="2493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170d8d16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170d8d16d_0_78:notes"/>
          <p:cNvSpPr/>
          <p:nvPr>
            <p:ph idx="2" type="sldImg"/>
          </p:nvPr>
        </p:nvSpPr>
        <p:spPr>
          <a:xfrm>
            <a:off x="2182390" y="685800"/>
            <a:ext cx="2493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a170d8d16d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49367" y="1456058"/>
            <a:ext cx="6816600" cy="401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49360" y="5542289"/>
            <a:ext cx="6816600" cy="15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49360" y="4206107"/>
            <a:ext cx="68166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49360" y="870271"/>
            <a:ext cx="6816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49360" y="2253729"/>
            <a:ext cx="68166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49360" y="870271"/>
            <a:ext cx="6816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49360" y="2253729"/>
            <a:ext cx="31998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3865920" y="2253729"/>
            <a:ext cx="31998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49360" y="870271"/>
            <a:ext cx="6816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49360" y="1086507"/>
            <a:ext cx="2246400" cy="14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49360" y="2717440"/>
            <a:ext cx="2246400" cy="6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392200" y="880293"/>
            <a:ext cx="5094300" cy="799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657600" y="-244"/>
            <a:ext cx="36576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12400" y="2411542"/>
            <a:ext cx="3236100" cy="289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12400" y="5481569"/>
            <a:ext cx="3236100" cy="2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3951600" y="1415969"/>
            <a:ext cx="3069600" cy="722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49360" y="8273124"/>
            <a:ext cx="4799100" cy="11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49360" y="2163089"/>
            <a:ext cx="6816600" cy="3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49360" y="6164351"/>
            <a:ext cx="6816600" cy="25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249367" y="1456058"/>
            <a:ext cx="6816600" cy="4014000"/>
          </a:xfrm>
          <a:prstGeom prst="rect">
            <a:avLst/>
          </a:prstGeom>
        </p:spPr>
        <p:txBody>
          <a:bodyPr anchorCtr="0" anchor="b" bIns="87650" lIns="87650" spcFirstLastPara="1" rIns="87650" wrap="square" tIns="8765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249360" y="5542289"/>
            <a:ext cx="6816600" cy="1550100"/>
          </a:xfrm>
          <a:prstGeom prst="rect">
            <a:avLst/>
          </a:prstGeom>
        </p:spPr>
        <p:txBody>
          <a:bodyPr anchorCtr="0" anchor="t" bIns="87650" lIns="87650" spcFirstLastPara="1" rIns="87650" wrap="square" tIns="8765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6777966" y="9119180"/>
            <a:ext cx="438900" cy="769500"/>
          </a:xfrm>
          <a:prstGeom prst="rect">
            <a:avLst/>
          </a:prstGeom>
        </p:spPr>
        <p:txBody>
          <a:bodyPr anchorCtr="0" anchor="ctr" bIns="87650" lIns="87650" spcFirstLastPara="1" rIns="87650" wrap="square" tIns="8765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249360" y="4206107"/>
            <a:ext cx="6816600" cy="1646100"/>
          </a:xfrm>
          <a:prstGeom prst="rect">
            <a:avLst/>
          </a:prstGeom>
        </p:spPr>
        <p:txBody>
          <a:bodyPr anchorCtr="0" anchor="ctr" bIns="87650" lIns="87650" spcFirstLastPara="1" rIns="87650" wrap="square" tIns="8765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6777966" y="9119180"/>
            <a:ext cx="438900" cy="769500"/>
          </a:xfrm>
          <a:prstGeom prst="rect">
            <a:avLst/>
          </a:prstGeom>
        </p:spPr>
        <p:txBody>
          <a:bodyPr anchorCtr="0" anchor="ctr" bIns="87650" lIns="87650" spcFirstLastPara="1" rIns="87650" wrap="square" tIns="8765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249360" y="870271"/>
            <a:ext cx="6816600" cy="1119900"/>
          </a:xfrm>
          <a:prstGeom prst="rect">
            <a:avLst/>
          </a:prstGeom>
        </p:spPr>
        <p:txBody>
          <a:bodyPr anchorCtr="0" anchor="t" bIns="87650" lIns="87650" spcFirstLastPara="1" rIns="87650" wrap="square" tIns="876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249360" y="2253729"/>
            <a:ext cx="6816600" cy="6681000"/>
          </a:xfrm>
          <a:prstGeom prst="rect">
            <a:avLst/>
          </a:prstGeom>
        </p:spPr>
        <p:txBody>
          <a:bodyPr anchorCtr="0" anchor="t" bIns="87650" lIns="87650" spcFirstLastPara="1" rIns="87650" wrap="square" tIns="87650">
            <a:normAutofit/>
          </a:bodyPr>
          <a:lstStyle>
            <a:lvl1pPr indent="-336550" lvl="0" marL="45720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6777966" y="9119180"/>
            <a:ext cx="438900" cy="769500"/>
          </a:xfrm>
          <a:prstGeom prst="rect">
            <a:avLst/>
          </a:prstGeom>
        </p:spPr>
        <p:txBody>
          <a:bodyPr anchorCtr="0" anchor="ctr" bIns="87650" lIns="87650" spcFirstLastPara="1" rIns="87650" wrap="square" tIns="8765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249360" y="870271"/>
            <a:ext cx="6816600" cy="1119900"/>
          </a:xfrm>
          <a:prstGeom prst="rect">
            <a:avLst/>
          </a:prstGeom>
        </p:spPr>
        <p:txBody>
          <a:bodyPr anchorCtr="0" anchor="t" bIns="87650" lIns="87650" spcFirstLastPara="1" rIns="87650" wrap="square" tIns="876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249360" y="2253729"/>
            <a:ext cx="3199800" cy="6681000"/>
          </a:xfrm>
          <a:prstGeom prst="rect">
            <a:avLst/>
          </a:prstGeom>
        </p:spPr>
        <p:txBody>
          <a:bodyPr anchorCtr="0" anchor="t" bIns="87650" lIns="87650" spcFirstLastPara="1" rIns="87650" wrap="square" tIns="87650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3865920" y="2253729"/>
            <a:ext cx="3199800" cy="6681000"/>
          </a:xfrm>
          <a:prstGeom prst="rect">
            <a:avLst/>
          </a:prstGeom>
        </p:spPr>
        <p:txBody>
          <a:bodyPr anchorCtr="0" anchor="t" bIns="87650" lIns="87650" spcFirstLastPara="1" rIns="87650" wrap="square" tIns="87650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6777966" y="9119180"/>
            <a:ext cx="438900" cy="769500"/>
          </a:xfrm>
          <a:prstGeom prst="rect">
            <a:avLst/>
          </a:prstGeom>
        </p:spPr>
        <p:txBody>
          <a:bodyPr anchorCtr="0" anchor="ctr" bIns="87650" lIns="87650" spcFirstLastPara="1" rIns="87650" wrap="square" tIns="8765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249360" y="870271"/>
            <a:ext cx="6816600" cy="1119900"/>
          </a:xfrm>
          <a:prstGeom prst="rect">
            <a:avLst/>
          </a:prstGeom>
        </p:spPr>
        <p:txBody>
          <a:bodyPr anchorCtr="0" anchor="t" bIns="87650" lIns="87650" spcFirstLastPara="1" rIns="87650" wrap="square" tIns="876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6777966" y="9119180"/>
            <a:ext cx="438900" cy="769500"/>
          </a:xfrm>
          <a:prstGeom prst="rect">
            <a:avLst/>
          </a:prstGeom>
        </p:spPr>
        <p:txBody>
          <a:bodyPr anchorCtr="0" anchor="ctr" bIns="87650" lIns="87650" spcFirstLastPara="1" rIns="87650" wrap="square" tIns="8765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249360" y="1086507"/>
            <a:ext cx="2246400" cy="1477800"/>
          </a:xfrm>
          <a:prstGeom prst="rect">
            <a:avLst/>
          </a:prstGeom>
        </p:spPr>
        <p:txBody>
          <a:bodyPr anchorCtr="0" anchor="b" bIns="87650" lIns="87650" spcFirstLastPara="1" rIns="87650" wrap="square" tIns="876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249360" y="2717440"/>
            <a:ext cx="2246400" cy="6217500"/>
          </a:xfrm>
          <a:prstGeom prst="rect">
            <a:avLst/>
          </a:prstGeom>
        </p:spPr>
        <p:txBody>
          <a:bodyPr anchorCtr="0" anchor="t" bIns="87650" lIns="87650" spcFirstLastPara="1" rIns="87650" wrap="square" tIns="87650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6777966" y="9119180"/>
            <a:ext cx="438900" cy="769500"/>
          </a:xfrm>
          <a:prstGeom prst="rect">
            <a:avLst/>
          </a:prstGeom>
        </p:spPr>
        <p:txBody>
          <a:bodyPr anchorCtr="0" anchor="ctr" bIns="87650" lIns="87650" spcFirstLastPara="1" rIns="87650" wrap="square" tIns="8765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392200" y="880293"/>
            <a:ext cx="5094300" cy="7999800"/>
          </a:xfrm>
          <a:prstGeom prst="rect">
            <a:avLst/>
          </a:prstGeom>
        </p:spPr>
        <p:txBody>
          <a:bodyPr anchorCtr="0" anchor="ctr" bIns="87650" lIns="87650" spcFirstLastPara="1" rIns="87650" wrap="square" tIns="876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777966" y="9119180"/>
            <a:ext cx="438900" cy="769500"/>
          </a:xfrm>
          <a:prstGeom prst="rect">
            <a:avLst/>
          </a:prstGeom>
        </p:spPr>
        <p:txBody>
          <a:bodyPr anchorCtr="0" anchor="ctr" bIns="87650" lIns="87650" spcFirstLastPara="1" rIns="87650" wrap="square" tIns="8765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3657600" y="-244"/>
            <a:ext cx="36576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7650" lIns="87650" spcFirstLastPara="1" rIns="87650" wrap="square" tIns="87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12400" y="2411542"/>
            <a:ext cx="3236100" cy="2898600"/>
          </a:xfrm>
          <a:prstGeom prst="rect">
            <a:avLst/>
          </a:prstGeom>
        </p:spPr>
        <p:txBody>
          <a:bodyPr anchorCtr="0" anchor="b" bIns="87650" lIns="87650" spcFirstLastPara="1" rIns="87650" wrap="square" tIns="8765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12400" y="5481569"/>
            <a:ext cx="3236100" cy="2415300"/>
          </a:xfrm>
          <a:prstGeom prst="rect">
            <a:avLst/>
          </a:prstGeom>
        </p:spPr>
        <p:txBody>
          <a:bodyPr anchorCtr="0" anchor="t" bIns="87650" lIns="87650" spcFirstLastPara="1" rIns="87650" wrap="square" tIns="8765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3951600" y="1415969"/>
            <a:ext cx="3069600" cy="7226100"/>
          </a:xfrm>
          <a:prstGeom prst="rect">
            <a:avLst/>
          </a:prstGeom>
        </p:spPr>
        <p:txBody>
          <a:bodyPr anchorCtr="0" anchor="ctr" bIns="87650" lIns="87650" spcFirstLastPara="1" rIns="87650" wrap="square" tIns="87650">
            <a:normAutofit/>
          </a:bodyPr>
          <a:lstStyle>
            <a:lvl1pPr indent="-336550" lvl="0" marL="45720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6777966" y="9119180"/>
            <a:ext cx="438900" cy="769500"/>
          </a:xfrm>
          <a:prstGeom prst="rect">
            <a:avLst/>
          </a:prstGeom>
        </p:spPr>
        <p:txBody>
          <a:bodyPr anchorCtr="0" anchor="ctr" bIns="87650" lIns="87650" spcFirstLastPara="1" rIns="87650" wrap="square" tIns="8765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249360" y="8273124"/>
            <a:ext cx="4799100" cy="1183500"/>
          </a:xfrm>
          <a:prstGeom prst="rect">
            <a:avLst/>
          </a:prstGeom>
        </p:spPr>
        <p:txBody>
          <a:bodyPr anchorCtr="0" anchor="ctr" bIns="87650" lIns="87650" spcFirstLastPara="1" rIns="87650" wrap="square" tIns="87650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6777966" y="9119180"/>
            <a:ext cx="438900" cy="769500"/>
          </a:xfrm>
          <a:prstGeom prst="rect">
            <a:avLst/>
          </a:prstGeom>
        </p:spPr>
        <p:txBody>
          <a:bodyPr anchorCtr="0" anchor="ctr" bIns="87650" lIns="87650" spcFirstLastPara="1" rIns="87650" wrap="square" tIns="8765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249360" y="2163089"/>
            <a:ext cx="6816600" cy="3839700"/>
          </a:xfrm>
          <a:prstGeom prst="rect">
            <a:avLst/>
          </a:prstGeom>
        </p:spPr>
        <p:txBody>
          <a:bodyPr anchorCtr="0" anchor="b" bIns="87650" lIns="87650" spcFirstLastPara="1" rIns="87650" wrap="square" tIns="8765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249360" y="6164351"/>
            <a:ext cx="6816600" cy="2543700"/>
          </a:xfrm>
          <a:prstGeom prst="rect">
            <a:avLst/>
          </a:prstGeom>
        </p:spPr>
        <p:txBody>
          <a:bodyPr anchorCtr="0" anchor="t" bIns="87650" lIns="87650" spcFirstLastPara="1" rIns="87650" wrap="square" tIns="87650">
            <a:normAutofit/>
          </a:bodyPr>
          <a:lstStyle>
            <a:lvl1pPr indent="-336550" lvl="0" marL="457200" rtl="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11150" lvl="1" marL="914400" rtl="0" algn="ctr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indent="-311150" lvl="2" marL="1371600" rtl="0" algn="ctr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 rtl="0" algn="ctr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 rtl="0" algn="ctr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 rtl="0" algn="ctr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 rtl="0" algn="ctr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6777966" y="9119180"/>
            <a:ext cx="438900" cy="769500"/>
          </a:xfrm>
          <a:prstGeom prst="rect">
            <a:avLst/>
          </a:prstGeom>
        </p:spPr>
        <p:txBody>
          <a:bodyPr anchorCtr="0" anchor="ctr" bIns="87650" lIns="87650" spcFirstLastPara="1" rIns="87650" wrap="square" tIns="8765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6777966" y="9119180"/>
            <a:ext cx="438900" cy="769500"/>
          </a:xfrm>
          <a:prstGeom prst="rect">
            <a:avLst/>
          </a:prstGeom>
        </p:spPr>
        <p:txBody>
          <a:bodyPr anchorCtr="0" anchor="ctr" bIns="87650" lIns="87650" spcFirstLastPara="1" rIns="87650" wrap="square" tIns="8765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9360" y="870271"/>
            <a:ext cx="6816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9360" y="2253729"/>
            <a:ext cx="6816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49360" y="870271"/>
            <a:ext cx="6816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87650" lIns="87650" spcFirstLastPara="1" rIns="87650" wrap="square" tIns="876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49360" y="2253729"/>
            <a:ext cx="6816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650" lIns="87650" spcFirstLastPara="1" rIns="87650" wrap="square" tIns="87650">
            <a:normAutofit/>
          </a:bodyPr>
          <a:lstStyle>
            <a:lvl1pPr indent="-3365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1pPr>
            <a:lvl2pPr indent="-3111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○"/>
              <a:defRPr sz="1300">
                <a:solidFill>
                  <a:schemeClr val="dk2"/>
                </a:solidFill>
              </a:defRPr>
            </a:lvl2pPr>
            <a:lvl3pPr indent="-3111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■"/>
              <a:defRPr sz="1300">
                <a:solidFill>
                  <a:schemeClr val="dk2"/>
                </a:solidFill>
              </a:defRPr>
            </a:lvl3pPr>
            <a:lvl4pPr indent="-3111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  <a:defRPr sz="1300">
                <a:solidFill>
                  <a:schemeClr val="dk2"/>
                </a:solidFill>
              </a:defRPr>
            </a:lvl4pPr>
            <a:lvl5pPr indent="-3111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○"/>
              <a:defRPr sz="1300">
                <a:solidFill>
                  <a:schemeClr val="dk2"/>
                </a:solidFill>
              </a:defRPr>
            </a:lvl5pPr>
            <a:lvl6pPr indent="-3111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■"/>
              <a:defRPr sz="1300">
                <a:solidFill>
                  <a:schemeClr val="dk2"/>
                </a:solidFill>
              </a:defRPr>
            </a:lvl6pPr>
            <a:lvl7pPr indent="-3111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  <a:defRPr sz="1300">
                <a:solidFill>
                  <a:schemeClr val="dk2"/>
                </a:solidFill>
              </a:defRPr>
            </a:lvl7pPr>
            <a:lvl8pPr indent="-3111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○"/>
              <a:defRPr sz="1300">
                <a:solidFill>
                  <a:schemeClr val="dk2"/>
                </a:solidFill>
              </a:defRPr>
            </a:lvl8pPr>
            <a:lvl9pPr indent="-3111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■"/>
              <a:defRPr sz="13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777966" y="9119180"/>
            <a:ext cx="438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7650" lIns="87650" spcFirstLastPara="1" rIns="87650" wrap="square" tIns="87650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5.xml"/><Relationship Id="rId4" Type="http://schemas.openxmlformats.org/officeDocument/2006/relationships/slide" Target="/ppt/slides/slide7.xml"/><Relationship Id="rId5" Type="http://schemas.openxmlformats.org/officeDocument/2006/relationships/slide" Target="/ppt/slides/slide11.xml"/><Relationship Id="rId6" Type="http://schemas.openxmlformats.org/officeDocument/2006/relationships/slide" Target="/ppt/slides/slide1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visahq.com/united-kingdom/united-kingdom-visa-requirements-for-nigeria" TargetMode="External"/><Relationship Id="rId4" Type="http://schemas.openxmlformats.org/officeDocument/2006/relationships/hyperlink" Target="https://www.visahq.com/united-kingdom/united-kingdom-visa-requirements-for-nigeria" TargetMode="External"/><Relationship Id="rId10" Type="http://schemas.openxmlformats.org/officeDocument/2006/relationships/hyperlink" Target="https://www.gov.uk/government/news/uk-changes-travel-rules-for-travellers-from-nigeria-to-england" TargetMode="External"/><Relationship Id="rId9" Type="http://schemas.openxmlformats.org/officeDocument/2006/relationships/hyperlink" Target="https://iasservices.org.uk/ng/uk/visit/" TargetMode="External"/><Relationship Id="rId5" Type="http://schemas.openxmlformats.org/officeDocument/2006/relationships/hyperlink" Target="https://www.visahq.com/united-kingdom/united-kingdom-visa-requirements-for-nigeria" TargetMode="External"/><Relationship Id="rId6" Type="http://schemas.openxmlformats.org/officeDocument/2006/relationships/hyperlink" Target="https://www.visahq.com/united-kingdom/united-kingdom-visa-requirements-for-nigeria" TargetMode="External"/><Relationship Id="rId7" Type="http://schemas.openxmlformats.org/officeDocument/2006/relationships/hyperlink" Target="https://www.gov.uk/check-uk-visa/y/nigeria/work/six_months_or_less" TargetMode="External"/><Relationship Id="rId8" Type="http://schemas.openxmlformats.org/officeDocument/2006/relationships/hyperlink" Target="https://iasservices.org.uk/ng/uk/visit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britishcouncil.org/" TargetMode="External"/><Relationship Id="rId4" Type="http://schemas.openxmlformats.org/officeDocument/2006/relationships/hyperlink" Target="https://www.visitbritain.com/en/things-to-do" TargetMode="External"/><Relationship Id="rId5" Type="http://schemas.openxmlformats.org/officeDocument/2006/relationships/hyperlink" Target="https://debretts.com/coaching/" TargetMode="External"/><Relationship Id="rId6" Type="http://schemas.openxmlformats.org/officeDocument/2006/relationships/hyperlink" Target="https://www.expatica.com/uk/lifestyle/things-to-do/places-to-visit-in-london-507816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/>
          <p:cNvPicPr preferRelativeResize="0"/>
          <p:nvPr/>
        </p:nvPicPr>
        <p:blipFill>
          <a:blip r:embed="rId3">
            <a:alphaModFix amt="78000"/>
          </a:blip>
          <a:stretch>
            <a:fillRect/>
          </a:stretch>
        </p:blipFill>
        <p:spPr>
          <a:xfrm>
            <a:off x="0" y="0"/>
            <a:ext cx="7315200" cy="1005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0" name="Google Shape;100;p25"/>
          <p:cNvSpPr txBox="1"/>
          <p:nvPr/>
        </p:nvSpPr>
        <p:spPr>
          <a:xfrm>
            <a:off x="946500" y="5972425"/>
            <a:ext cx="5422200" cy="1954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Prepared for:</a:t>
            </a:r>
            <a:endParaRPr b="1"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John Uvietaire </a:t>
            </a:r>
            <a:endParaRPr b="1" sz="2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United KIngdom</a:t>
            </a:r>
            <a:endParaRPr sz="25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Dec 20-Dec 23 2025</a:t>
            </a:r>
            <a:endParaRPr sz="2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946500" y="3906500"/>
            <a:ext cx="5422200" cy="800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Travel Pack</a:t>
            </a:r>
            <a:endParaRPr b="1" sz="4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44746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 txBox="1"/>
          <p:nvPr/>
        </p:nvSpPr>
        <p:spPr>
          <a:xfrm>
            <a:off x="432601" y="3069817"/>
            <a:ext cx="64500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87650" lIns="87650" spcFirstLastPara="1" rIns="87650" wrap="square" tIns="876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EBE9DA"/>
                </a:solidFill>
                <a:latin typeface="Montserrat"/>
                <a:ea typeface="Montserrat"/>
                <a:cs typeface="Montserrat"/>
                <a:sym typeface="Montserrat"/>
              </a:rPr>
              <a:t>Table of Contents</a:t>
            </a:r>
            <a:endParaRPr b="1" sz="3000">
              <a:solidFill>
                <a:srgbClr val="EBE9D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" name="Google Shape;107;p26"/>
          <p:cNvSpPr/>
          <p:nvPr/>
        </p:nvSpPr>
        <p:spPr>
          <a:xfrm>
            <a:off x="0" y="9524123"/>
            <a:ext cx="7315200" cy="534600"/>
          </a:xfrm>
          <a:prstGeom prst="rect">
            <a:avLst/>
          </a:prstGeom>
          <a:solidFill>
            <a:srgbClr val="EBE9DA"/>
          </a:solidFill>
          <a:ln>
            <a:noFill/>
          </a:ln>
        </p:spPr>
        <p:txBody>
          <a:bodyPr anchorCtr="0" anchor="ctr" bIns="87650" lIns="87650" spcFirstLastPara="1" rIns="87650" wrap="square" tIns="87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8" name="Google Shape;108;p26"/>
          <p:cNvGraphicFramePr/>
          <p:nvPr/>
        </p:nvGraphicFramePr>
        <p:xfrm>
          <a:off x="603788" y="42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{67E0F8FC-8036-428D-9FA3-0018E0DB62D4}</a:tableStyleId>
              </a:tblPr>
              <a:tblGrid>
                <a:gridCol w="670025"/>
                <a:gridCol w="5513325"/>
              </a:tblGrid>
              <a:tr h="663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EBE9D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b="1" sz="2000">
                        <a:solidFill>
                          <a:srgbClr val="EBE9DA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EBE9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BE9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BE9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BE9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A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u="sng">
                          <a:solidFill>
                            <a:schemeClr val="hlink"/>
                          </a:solidFill>
                          <a:hlinkClick action="ppaction://hlinkshowjump?jump=nextslide"/>
                        </a:rPr>
                        <a:t>Entry/Exit Requirements</a:t>
                      </a:r>
                      <a:endParaRPr sz="2000">
                        <a:solidFill>
                          <a:srgbClr val="EBE9DA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EBE9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BE9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BE9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BE9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663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EBE9D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b="1" sz="2000">
                        <a:solidFill>
                          <a:srgbClr val="EBE9DA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EBE9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BE9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BE9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BE9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A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u="sng">
                          <a:solidFill>
                            <a:schemeClr val="hlink"/>
                          </a:solidFill>
                          <a:hlinkClick action="ppaction://hlinksldjump" r:id="rId3"/>
                        </a:rPr>
                        <a:t>Etiquette and Cultural Expectations</a:t>
                      </a:r>
                      <a:endParaRPr sz="2000">
                        <a:solidFill>
                          <a:srgbClr val="EBE9DA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EBE9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BE9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BE9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BE9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663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EBE9D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b="1" sz="2000">
                        <a:solidFill>
                          <a:srgbClr val="EBE9DA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EBE9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BE9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BE9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BE9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A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u="sng">
                          <a:solidFill>
                            <a:schemeClr val="hlink"/>
                          </a:solidFill>
                          <a:hlinkClick action="ppaction://hlinksldjump" r:id="rId4"/>
                        </a:rPr>
                        <a:t>Event Information</a:t>
                      </a:r>
                      <a:endParaRPr sz="2000">
                        <a:solidFill>
                          <a:srgbClr val="EBE9DA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EBE9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BE9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BE9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BE9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663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EBE9D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b="1" sz="2000">
                        <a:solidFill>
                          <a:srgbClr val="EBE9DA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EBE9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BE9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BE9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BE9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A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u="sng">
                          <a:solidFill>
                            <a:schemeClr val="hlink"/>
                          </a:solidFill>
                          <a:hlinkClick action="ppaction://hlinksldjump" r:id="rId5"/>
                        </a:rPr>
                        <a:t>Budget</a:t>
                      </a:r>
                      <a:endParaRPr sz="2000">
                        <a:solidFill>
                          <a:srgbClr val="EBE9DA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EBE9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BE9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BE9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BE9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663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EBE9D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b="1" sz="2000">
                        <a:solidFill>
                          <a:srgbClr val="EBE9DA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EBE9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BE9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BE9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BE9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A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u="sng">
                          <a:solidFill>
                            <a:schemeClr val="hlink"/>
                          </a:solidFill>
                          <a:hlinkClick action="ppaction://hlinksldjump" r:id="rId6"/>
                        </a:rPr>
                        <a:t>Travel Itinerary</a:t>
                      </a:r>
                      <a:endParaRPr sz="2000">
                        <a:solidFill>
                          <a:srgbClr val="EBE9DA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EBE9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BE9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BE9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BE9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"/>
          <p:cNvSpPr/>
          <p:nvPr/>
        </p:nvSpPr>
        <p:spPr>
          <a:xfrm>
            <a:off x="176590" y="221968"/>
            <a:ext cx="6951900" cy="9628200"/>
          </a:xfrm>
          <a:prstGeom prst="rect">
            <a:avLst/>
          </a:prstGeom>
          <a:solidFill>
            <a:srgbClr val="444746"/>
          </a:solidFill>
          <a:ln>
            <a:noFill/>
          </a:ln>
        </p:spPr>
        <p:txBody>
          <a:bodyPr anchorCtr="0" anchor="ctr" bIns="87650" lIns="87650" spcFirstLastPara="1" rIns="87650" wrap="square" tIns="87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7"/>
          <p:cNvSpPr txBox="1"/>
          <p:nvPr/>
        </p:nvSpPr>
        <p:spPr>
          <a:xfrm>
            <a:off x="696351" y="3921075"/>
            <a:ext cx="5903100" cy="24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7650" lIns="87650" spcFirstLastPara="1" rIns="87650" wrap="square" tIns="87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EBE9D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Entry/Exit</a:t>
            </a:r>
            <a:r>
              <a:rPr lang="en" sz="4400">
                <a:solidFill>
                  <a:srgbClr val="EBE9D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en" sz="4800">
                <a:solidFill>
                  <a:srgbClr val="EBE9DA"/>
                </a:solidFill>
                <a:latin typeface="Montserrat"/>
                <a:ea typeface="Montserrat"/>
                <a:cs typeface="Montserrat"/>
                <a:sym typeface="Montserrat"/>
              </a:rPr>
              <a:t>information</a:t>
            </a:r>
            <a:endParaRPr sz="4800">
              <a:solidFill>
                <a:srgbClr val="EBE9D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15" name="Google Shape;115;p27"/>
          <p:cNvSpPr/>
          <p:nvPr/>
        </p:nvSpPr>
        <p:spPr>
          <a:xfrm>
            <a:off x="5159450" y="8893975"/>
            <a:ext cx="1184400" cy="33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4A4A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8"/>
          <p:cNvSpPr txBox="1"/>
          <p:nvPr/>
        </p:nvSpPr>
        <p:spPr>
          <a:xfrm>
            <a:off x="332151" y="443392"/>
            <a:ext cx="64500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87650" lIns="87650" spcFirstLastPara="1" rIns="87650" wrap="square" tIns="876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EBE9DA"/>
                </a:solidFill>
                <a:latin typeface="Montserrat"/>
                <a:ea typeface="Montserrat"/>
                <a:cs typeface="Montserrat"/>
                <a:sym typeface="Montserrat"/>
              </a:rPr>
              <a:t>Documentation Requirements</a:t>
            </a:r>
            <a:endParaRPr b="1" sz="3000">
              <a:solidFill>
                <a:srgbClr val="EBE9D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28"/>
          <p:cNvSpPr txBox="1"/>
          <p:nvPr/>
        </p:nvSpPr>
        <p:spPr>
          <a:xfrm>
            <a:off x="332150" y="1364788"/>
            <a:ext cx="6575100" cy="75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7650" lIns="87650" spcFirstLastPara="1" rIns="87650" wrap="square" tIns="876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EBE9DA"/>
                </a:solidFill>
                <a:latin typeface="Montserrat"/>
                <a:ea typeface="Montserrat"/>
                <a:cs typeface="Montserrat"/>
                <a:sym typeface="Montserrat"/>
              </a:rPr>
              <a:t>ENTRY:</a:t>
            </a:r>
            <a:endParaRPr b="1" sz="2800">
              <a:solidFill>
                <a:srgbClr val="EBE9D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EBE9DA"/>
              </a:buClr>
              <a:buSzPts val="2800"/>
              <a:buFont typeface="Montserrat"/>
              <a:buChar char="●"/>
            </a:pPr>
            <a:r>
              <a:rPr lang="en" sz="2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Passport with expiration date more than 6 mont</a:t>
            </a:r>
            <a:r>
              <a:rPr lang="en" sz="2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hs from entry date (</a:t>
            </a:r>
            <a:r>
              <a:rPr lang="en" sz="2800" u="sng">
                <a:solidFill>
                  <a:schemeClr val="hlink"/>
                </a:solidFill>
                <a:highlight>
                  <a:schemeClr val="lt1"/>
                </a:highlight>
                <a:hlinkClick r:id="rId5"/>
              </a:rPr>
              <a:t>✔</a:t>
            </a:r>
            <a:r>
              <a:rPr lang="en" sz="2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)</a:t>
            </a:r>
            <a:endParaRPr sz="2800">
              <a:solidFill>
                <a:srgbClr val="EBE9D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EBE9DA"/>
              </a:buClr>
              <a:buSzPts val="2800"/>
              <a:buFont typeface="Montserrat"/>
              <a:buChar char="●"/>
            </a:pPr>
            <a:r>
              <a:rPr lang="en" sz="2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UK Visa</a:t>
            </a:r>
            <a:endParaRPr sz="2800">
              <a:solidFill>
                <a:srgbClr val="EBE9D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EBE9DA"/>
              </a:buClr>
              <a:buSzPts val="2800"/>
              <a:buFont typeface="Montserrat"/>
              <a:buChar char="●"/>
            </a:pPr>
            <a:r>
              <a:rPr lang="en" sz="2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8"/>
              </a:rPr>
              <a:t>Financial and intention to return</a:t>
            </a:r>
            <a:endParaRPr sz="2800">
              <a:solidFill>
                <a:srgbClr val="EBE9D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EBE9DA"/>
              </a:buClr>
              <a:buSzPts val="2800"/>
              <a:buFont typeface="Montserrat"/>
              <a:buChar char="●"/>
            </a:pPr>
            <a:r>
              <a:rPr lang="en" sz="2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9"/>
              </a:rPr>
              <a:t>Purpose of your visit</a:t>
            </a:r>
            <a:endParaRPr sz="2800">
              <a:solidFill>
                <a:srgbClr val="EBE9D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EBE9DA"/>
              </a:buClr>
              <a:buSzPts val="2800"/>
              <a:buFont typeface="Montserrat"/>
              <a:buChar char="●"/>
            </a:pPr>
            <a:r>
              <a:rPr lang="en" sz="2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0"/>
              </a:rPr>
              <a:t>Health / COVID-19 rules</a:t>
            </a:r>
            <a:endParaRPr sz="2800">
              <a:solidFill>
                <a:srgbClr val="EBE9D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EBE9D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EBE9D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EBE9DA"/>
                </a:solidFill>
                <a:latin typeface="Montserrat"/>
                <a:ea typeface="Montserrat"/>
                <a:cs typeface="Montserrat"/>
                <a:sym typeface="Montserrat"/>
              </a:rPr>
              <a:t>EXIT:</a:t>
            </a:r>
            <a:endParaRPr b="1" sz="2800">
              <a:solidFill>
                <a:srgbClr val="EBE9D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EBE9DA"/>
              </a:buClr>
              <a:buSzPts val="2800"/>
              <a:buFont typeface="Montserrat"/>
              <a:buChar char="●"/>
            </a:pPr>
            <a:r>
              <a:rPr lang="en" sz="2800">
                <a:solidFill>
                  <a:srgbClr val="EBE9DA"/>
                </a:solidFill>
                <a:latin typeface="Montserrat"/>
                <a:ea typeface="Montserrat"/>
                <a:cs typeface="Montserrat"/>
                <a:sym typeface="Montserrat"/>
              </a:rPr>
              <a:t>There are generally no border exit checks (passport stamping) for many travellers — but airlines and transit countries will check validity of your documents.</a:t>
            </a:r>
            <a:endParaRPr sz="2800">
              <a:solidFill>
                <a:srgbClr val="EBE9D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EBE9D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28"/>
          <p:cNvSpPr txBox="1"/>
          <p:nvPr/>
        </p:nvSpPr>
        <p:spPr>
          <a:xfrm>
            <a:off x="9432350" y="6160250"/>
            <a:ext cx="7366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123" name="Google Shape;123;p28"/>
          <p:cNvSpPr/>
          <p:nvPr/>
        </p:nvSpPr>
        <p:spPr>
          <a:xfrm>
            <a:off x="5159450" y="8893975"/>
            <a:ext cx="1184400" cy="33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8"/>
          <p:cNvSpPr/>
          <p:nvPr/>
        </p:nvSpPr>
        <p:spPr>
          <a:xfrm>
            <a:off x="0" y="1179687"/>
            <a:ext cx="7289700" cy="900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9"/>
          <p:cNvSpPr/>
          <p:nvPr/>
        </p:nvSpPr>
        <p:spPr>
          <a:xfrm>
            <a:off x="176590" y="221968"/>
            <a:ext cx="6951900" cy="9628200"/>
          </a:xfrm>
          <a:prstGeom prst="rect">
            <a:avLst/>
          </a:prstGeom>
          <a:solidFill>
            <a:srgbClr val="444746"/>
          </a:solidFill>
          <a:ln>
            <a:noFill/>
          </a:ln>
        </p:spPr>
        <p:txBody>
          <a:bodyPr anchorCtr="0" anchor="ctr" bIns="87650" lIns="87650" spcFirstLastPara="1" rIns="87650" wrap="square" tIns="87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9"/>
          <p:cNvSpPr txBox="1"/>
          <p:nvPr/>
        </p:nvSpPr>
        <p:spPr>
          <a:xfrm>
            <a:off x="696351" y="3921075"/>
            <a:ext cx="5903100" cy="24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7650" lIns="87650" spcFirstLastPara="1" rIns="87650" wrap="square" tIns="87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EBE9D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Etiquette and Cultural Expectations</a:t>
            </a:r>
            <a:endParaRPr sz="4800">
              <a:solidFill>
                <a:srgbClr val="EBE9D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31" name="Google Shape;131;p29"/>
          <p:cNvSpPr/>
          <p:nvPr/>
        </p:nvSpPr>
        <p:spPr>
          <a:xfrm>
            <a:off x="5159450" y="8893975"/>
            <a:ext cx="1184400" cy="33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4A4A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 txBox="1"/>
          <p:nvPr/>
        </p:nvSpPr>
        <p:spPr>
          <a:xfrm>
            <a:off x="9432350" y="6160250"/>
            <a:ext cx="7366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137" name="Google Shape;137;p30"/>
          <p:cNvSpPr/>
          <p:nvPr/>
        </p:nvSpPr>
        <p:spPr>
          <a:xfrm>
            <a:off x="5159450" y="8893975"/>
            <a:ext cx="1184400" cy="33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0"/>
          <p:cNvSpPr txBox="1"/>
          <p:nvPr/>
        </p:nvSpPr>
        <p:spPr>
          <a:xfrm>
            <a:off x="412650" y="338060"/>
            <a:ext cx="6489900" cy="8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100">
                <a:solidFill>
                  <a:srgbClr val="EBE9D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Cultural Expectations</a:t>
            </a:r>
            <a:endParaRPr sz="4100">
              <a:solidFill>
                <a:schemeClr val="dk2"/>
              </a:solidFill>
            </a:endParaRPr>
          </a:p>
        </p:txBody>
      </p:sp>
      <p:sp>
        <p:nvSpPr>
          <p:cNvPr id="139" name="Google Shape;139;p30"/>
          <p:cNvSpPr txBox="1"/>
          <p:nvPr/>
        </p:nvSpPr>
        <p:spPr>
          <a:xfrm>
            <a:off x="621300" y="1391763"/>
            <a:ext cx="6072600" cy="72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552450" lvl="0" marL="457200" rtl="0" algn="l">
              <a:spcBef>
                <a:spcPts val="0"/>
              </a:spcBef>
              <a:spcAft>
                <a:spcPts val="0"/>
              </a:spcAft>
              <a:buClr>
                <a:srgbClr val="EBE9DA"/>
              </a:buClr>
              <a:buSzPts val="5100"/>
              <a:buChar char="●"/>
            </a:pPr>
            <a:r>
              <a:rPr lang="en" sz="4400" u="sng">
                <a:solidFill>
                  <a:schemeClr val="hlink"/>
                </a:solidFill>
                <a:hlinkClick r:id="rId3"/>
              </a:rPr>
              <a:t>Be punctual</a:t>
            </a:r>
            <a:endParaRPr sz="3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2"/>
              </a:solidFill>
            </a:endParaRPr>
          </a:p>
          <a:p>
            <a:pPr indent="-552450" lvl="0" marL="457200" rtl="0" algn="l">
              <a:spcBef>
                <a:spcPts val="0"/>
              </a:spcBef>
              <a:spcAft>
                <a:spcPts val="0"/>
              </a:spcAft>
              <a:buClr>
                <a:srgbClr val="EBE9DA"/>
              </a:buClr>
              <a:buSzPts val="5100"/>
              <a:buChar char="●"/>
            </a:pPr>
            <a:r>
              <a:rPr lang="en" sz="4400" u="sng">
                <a:solidFill>
                  <a:schemeClr val="hlink"/>
                </a:solidFill>
                <a:hlinkClick r:id="rId4"/>
              </a:rPr>
              <a:t>Queue patiently</a:t>
            </a:r>
            <a:endParaRPr sz="4400">
              <a:solidFill>
                <a:srgbClr val="EBE9DA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rgbClr val="EBE9DA"/>
              </a:solidFill>
            </a:endParaRPr>
          </a:p>
          <a:p>
            <a:pPr indent="-546100" lvl="0" marL="457200" rtl="0" algn="l">
              <a:spcBef>
                <a:spcPts val="0"/>
              </a:spcBef>
              <a:spcAft>
                <a:spcPts val="0"/>
              </a:spcAft>
              <a:buClr>
                <a:srgbClr val="EBE9DA"/>
              </a:buClr>
              <a:buSzPts val="5000"/>
              <a:buChar char="●"/>
            </a:pPr>
            <a:r>
              <a:rPr lang="en" sz="4400" u="sng">
                <a:solidFill>
                  <a:schemeClr val="hlink"/>
                </a:solidFill>
                <a:hlinkClick r:id="rId5"/>
              </a:rPr>
              <a:t>Don’t interrupt</a:t>
            </a:r>
            <a:endParaRPr sz="4400">
              <a:solidFill>
                <a:srgbClr val="EBE9D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rgbClr val="EBE9DA"/>
              </a:solidFill>
            </a:endParaRPr>
          </a:p>
          <a:p>
            <a:pPr indent="-508000" lvl="0" marL="457200" rtl="0" algn="l">
              <a:spcBef>
                <a:spcPts val="0"/>
              </a:spcBef>
              <a:spcAft>
                <a:spcPts val="0"/>
              </a:spcAft>
              <a:buClr>
                <a:srgbClr val="EBE9DA"/>
              </a:buClr>
              <a:buSzPts val="4400"/>
              <a:buChar char="●"/>
            </a:pPr>
            <a:r>
              <a:rPr lang="en" sz="4400" u="sng">
                <a:solidFill>
                  <a:schemeClr val="hlink"/>
                </a:solidFill>
                <a:hlinkClick r:id="rId6"/>
              </a:rPr>
              <a:t>“Sorry” is often used to be polite, not always as an apology.</a:t>
            </a:r>
            <a:endParaRPr sz="4400">
              <a:solidFill>
                <a:srgbClr val="EBE9DA"/>
              </a:solidFill>
            </a:endParaRPr>
          </a:p>
        </p:txBody>
      </p:sp>
      <p:sp>
        <p:nvSpPr>
          <p:cNvPr id="140" name="Google Shape;140;p30"/>
          <p:cNvSpPr/>
          <p:nvPr/>
        </p:nvSpPr>
        <p:spPr>
          <a:xfrm>
            <a:off x="0" y="1179687"/>
            <a:ext cx="7289700" cy="900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1"/>
          <p:cNvSpPr/>
          <p:nvPr/>
        </p:nvSpPr>
        <p:spPr>
          <a:xfrm>
            <a:off x="176590" y="221968"/>
            <a:ext cx="6951900" cy="9628200"/>
          </a:xfrm>
          <a:prstGeom prst="rect">
            <a:avLst/>
          </a:prstGeom>
          <a:solidFill>
            <a:srgbClr val="444746"/>
          </a:solidFill>
          <a:ln>
            <a:noFill/>
          </a:ln>
        </p:spPr>
        <p:txBody>
          <a:bodyPr anchorCtr="0" anchor="ctr" bIns="87650" lIns="87650" spcFirstLastPara="1" rIns="87650" wrap="square" tIns="87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1"/>
          <p:cNvSpPr txBox="1"/>
          <p:nvPr/>
        </p:nvSpPr>
        <p:spPr>
          <a:xfrm>
            <a:off x="706050" y="3166450"/>
            <a:ext cx="5903100" cy="48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87650" lIns="87650" spcFirstLastPara="1" rIns="87650" wrap="square" tIns="87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EBE9D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Event </a:t>
            </a:r>
            <a:endParaRPr sz="4800">
              <a:solidFill>
                <a:srgbClr val="EBE9D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EBE9DA"/>
                </a:solidFill>
                <a:latin typeface="Montserrat"/>
                <a:ea typeface="Montserrat"/>
                <a:cs typeface="Montserrat"/>
                <a:sym typeface="Montserrat"/>
              </a:rPr>
              <a:t>Information</a:t>
            </a:r>
            <a:endParaRPr sz="4800">
              <a:solidFill>
                <a:srgbClr val="EBE9D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rgbClr val="EBE9D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EBE9DA"/>
              </a:buClr>
              <a:buSzPts val="2000"/>
              <a:buFont typeface="Montserrat"/>
              <a:buChar char="●"/>
            </a:pPr>
            <a:r>
              <a:rPr lang="en" sz="2000">
                <a:solidFill>
                  <a:srgbClr val="EBE9DA"/>
                </a:solidFill>
                <a:latin typeface="Montserrat"/>
                <a:ea typeface="Montserrat"/>
                <a:cs typeface="Montserrat"/>
                <a:sym typeface="Montserrat"/>
              </a:rPr>
              <a:t>Explore London</a:t>
            </a:r>
            <a:r>
              <a:rPr lang="en" sz="2000">
                <a:solidFill>
                  <a:srgbClr val="EBE9DA"/>
                </a:solidFill>
                <a:latin typeface="Montserrat"/>
                <a:ea typeface="Montserrat"/>
                <a:cs typeface="Montserrat"/>
                <a:sym typeface="Montserrat"/>
              </a:rPr>
              <a:t>’s Landmarks (Day 1)</a:t>
            </a:r>
            <a:endParaRPr sz="2000">
              <a:solidFill>
                <a:srgbClr val="EBE9D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EBE9DA"/>
              </a:buClr>
              <a:buSzPts val="2000"/>
              <a:buFont typeface="Montserrat"/>
              <a:buChar char="●"/>
            </a:pPr>
            <a:r>
              <a:rPr lang="en" sz="2000">
                <a:solidFill>
                  <a:srgbClr val="EBE9DA"/>
                </a:solidFill>
                <a:latin typeface="Montserrat"/>
                <a:ea typeface="Montserrat"/>
                <a:cs typeface="Montserrat"/>
                <a:sym typeface="Montserrat"/>
              </a:rPr>
              <a:t>Experience British Culture &amp; Food (Day 2)</a:t>
            </a:r>
            <a:endParaRPr sz="2000">
              <a:solidFill>
                <a:srgbClr val="EBE9D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EBE9DA"/>
              </a:buClr>
              <a:buSzPts val="2000"/>
              <a:buFont typeface="Montserrat"/>
              <a:buChar char="●"/>
            </a:pPr>
            <a:r>
              <a:rPr lang="en" sz="2000">
                <a:solidFill>
                  <a:srgbClr val="EBE9DA"/>
                </a:solidFill>
                <a:latin typeface="Montserrat"/>
                <a:ea typeface="Montserrat"/>
                <a:cs typeface="Montserrat"/>
                <a:sym typeface="Montserrat"/>
              </a:rPr>
              <a:t>Take a Short Day Trip (Day 3)</a:t>
            </a:r>
            <a:endParaRPr sz="2000">
              <a:solidFill>
                <a:srgbClr val="EBE9D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EBE9D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31"/>
          <p:cNvSpPr/>
          <p:nvPr/>
        </p:nvSpPr>
        <p:spPr>
          <a:xfrm>
            <a:off x="5159450" y="8893975"/>
            <a:ext cx="1184400" cy="33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4A4A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2"/>
          <p:cNvSpPr txBox="1"/>
          <p:nvPr/>
        </p:nvSpPr>
        <p:spPr>
          <a:xfrm>
            <a:off x="9432350" y="6160250"/>
            <a:ext cx="7366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153" name="Google Shape;153;p32"/>
          <p:cNvSpPr/>
          <p:nvPr/>
        </p:nvSpPr>
        <p:spPr>
          <a:xfrm>
            <a:off x="5159450" y="8893975"/>
            <a:ext cx="1184400" cy="33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2"/>
          <p:cNvSpPr txBox="1"/>
          <p:nvPr/>
        </p:nvSpPr>
        <p:spPr>
          <a:xfrm>
            <a:off x="412650" y="338060"/>
            <a:ext cx="6489900" cy="8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EBE9D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Explore London’s Landmarks</a:t>
            </a:r>
            <a:endParaRPr sz="3200">
              <a:solidFill>
                <a:schemeClr val="dk2"/>
              </a:solidFill>
            </a:endParaRPr>
          </a:p>
        </p:txBody>
      </p:sp>
      <p:sp>
        <p:nvSpPr>
          <p:cNvPr id="155" name="Google Shape;155;p32"/>
          <p:cNvSpPr txBox="1"/>
          <p:nvPr/>
        </p:nvSpPr>
        <p:spPr>
          <a:xfrm>
            <a:off x="621300" y="1391763"/>
            <a:ext cx="6072600" cy="72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EBE9D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508000" lvl="0" marL="457200" rtl="0" algn="l">
              <a:spcBef>
                <a:spcPts val="0"/>
              </a:spcBef>
              <a:spcAft>
                <a:spcPts val="0"/>
              </a:spcAft>
              <a:buClr>
                <a:srgbClr val="EBE9DA"/>
              </a:buClr>
              <a:buSzPts val="4400"/>
              <a:buChar char="●"/>
            </a:pPr>
            <a:r>
              <a:rPr lang="en" sz="2800">
                <a:solidFill>
                  <a:srgbClr val="EBE9DA"/>
                </a:solidFill>
                <a:latin typeface="Montserrat"/>
                <a:ea typeface="Montserrat"/>
                <a:cs typeface="Montserrat"/>
                <a:sym typeface="Montserrat"/>
              </a:rPr>
              <a:t>Visit Buckingham Palace, Big Ben and Westminster Abbey</a:t>
            </a:r>
            <a:endParaRPr sz="2800">
              <a:solidFill>
                <a:srgbClr val="EBE9D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EBE9D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EBE9D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508000" lvl="0" marL="457200" rtl="0" algn="l">
              <a:spcBef>
                <a:spcPts val="0"/>
              </a:spcBef>
              <a:spcAft>
                <a:spcPts val="0"/>
              </a:spcAft>
              <a:buClr>
                <a:srgbClr val="EBE9DA"/>
              </a:buClr>
              <a:buSzPts val="4400"/>
              <a:buChar char="●"/>
            </a:pPr>
            <a:r>
              <a:rPr lang="en" sz="2800">
                <a:solidFill>
                  <a:srgbClr val="EBE9DA"/>
                </a:solidFill>
                <a:latin typeface="Montserrat"/>
                <a:ea typeface="Montserrat"/>
                <a:cs typeface="Montserrat"/>
                <a:sym typeface="Montserrat"/>
              </a:rPr>
              <a:t>Walk along the River Thames and ride the London Eye for city views.</a:t>
            </a:r>
            <a:endParaRPr sz="2800">
              <a:solidFill>
                <a:srgbClr val="EBE9D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EBE9D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EBE9D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508000" lvl="0" marL="457200" rtl="0" algn="l">
              <a:spcBef>
                <a:spcPts val="0"/>
              </a:spcBef>
              <a:spcAft>
                <a:spcPts val="0"/>
              </a:spcAft>
              <a:buClr>
                <a:srgbClr val="EBE9DA"/>
              </a:buClr>
              <a:buSzPts val="4400"/>
              <a:buChar char="●"/>
            </a:pPr>
            <a:r>
              <a:rPr lang="en" sz="2800">
                <a:solidFill>
                  <a:srgbClr val="EBE9DA"/>
                </a:solidFill>
                <a:latin typeface="Montserrat"/>
                <a:ea typeface="Montserrat"/>
                <a:cs typeface="Montserrat"/>
                <a:sym typeface="Montserrat"/>
              </a:rPr>
              <a:t>Stop by Trafalgar Square and Piccadilly Circus.</a:t>
            </a:r>
            <a:endParaRPr sz="2800">
              <a:solidFill>
                <a:srgbClr val="EBE9D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32"/>
          <p:cNvSpPr/>
          <p:nvPr/>
        </p:nvSpPr>
        <p:spPr>
          <a:xfrm>
            <a:off x="0" y="1179687"/>
            <a:ext cx="7289700" cy="900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4A4A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3"/>
          <p:cNvSpPr txBox="1"/>
          <p:nvPr/>
        </p:nvSpPr>
        <p:spPr>
          <a:xfrm>
            <a:off x="9432350" y="6160250"/>
            <a:ext cx="7366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162" name="Google Shape;162;p33"/>
          <p:cNvSpPr/>
          <p:nvPr/>
        </p:nvSpPr>
        <p:spPr>
          <a:xfrm>
            <a:off x="5159450" y="8893975"/>
            <a:ext cx="1184400" cy="33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3"/>
          <p:cNvSpPr txBox="1"/>
          <p:nvPr/>
        </p:nvSpPr>
        <p:spPr>
          <a:xfrm>
            <a:off x="412650" y="442395"/>
            <a:ext cx="6489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EBE9D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Experience British Culture &amp; Food</a:t>
            </a:r>
            <a:endParaRPr sz="2700">
              <a:solidFill>
                <a:schemeClr val="dk2"/>
              </a:solidFill>
            </a:endParaRPr>
          </a:p>
        </p:txBody>
      </p:sp>
      <p:sp>
        <p:nvSpPr>
          <p:cNvPr id="164" name="Google Shape;164;p33"/>
          <p:cNvSpPr txBox="1"/>
          <p:nvPr/>
        </p:nvSpPr>
        <p:spPr>
          <a:xfrm>
            <a:off x="621300" y="1391763"/>
            <a:ext cx="6072600" cy="72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EBE9D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508000" lvl="0" marL="457200" rtl="0" algn="l">
              <a:spcBef>
                <a:spcPts val="0"/>
              </a:spcBef>
              <a:spcAft>
                <a:spcPts val="0"/>
              </a:spcAft>
              <a:buClr>
                <a:srgbClr val="EBE9DA"/>
              </a:buClr>
              <a:buSzPts val="4400"/>
              <a:buChar char="●"/>
            </a:pPr>
            <a:r>
              <a:rPr lang="en" sz="2800">
                <a:solidFill>
                  <a:srgbClr val="EBE9DA"/>
                </a:solidFill>
                <a:latin typeface="Montserrat"/>
                <a:ea typeface="Montserrat"/>
                <a:cs typeface="Montserrat"/>
                <a:sym typeface="Montserrat"/>
              </a:rPr>
              <a:t>Explore British Museum, National Gallery, or Tate Modern (free entry).</a:t>
            </a:r>
            <a:endParaRPr sz="2800">
              <a:solidFill>
                <a:srgbClr val="EBE9D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EBE9D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508000" lvl="0" marL="457200" rtl="0" algn="l">
              <a:spcBef>
                <a:spcPts val="0"/>
              </a:spcBef>
              <a:spcAft>
                <a:spcPts val="0"/>
              </a:spcAft>
              <a:buClr>
                <a:srgbClr val="EBE9DA"/>
              </a:buClr>
              <a:buSzPts val="4400"/>
              <a:buChar char="●"/>
            </a:pPr>
            <a:r>
              <a:rPr lang="en" sz="2800">
                <a:solidFill>
                  <a:srgbClr val="EBE9DA"/>
                </a:solidFill>
                <a:latin typeface="Montserrat"/>
                <a:ea typeface="Montserrat"/>
                <a:cs typeface="Montserrat"/>
                <a:sym typeface="Montserrat"/>
              </a:rPr>
              <a:t>Try local dishes – fish &amp; chips, Sunday roast, or afternoon tea.</a:t>
            </a:r>
            <a:endParaRPr sz="2800">
              <a:solidFill>
                <a:srgbClr val="EBE9D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EBE9D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508000" lvl="0" marL="457200" rtl="0" algn="l">
              <a:spcBef>
                <a:spcPts val="0"/>
              </a:spcBef>
              <a:spcAft>
                <a:spcPts val="0"/>
              </a:spcAft>
              <a:buClr>
                <a:srgbClr val="EBE9DA"/>
              </a:buClr>
              <a:buSzPts val="4400"/>
              <a:buChar char="●"/>
            </a:pPr>
            <a:r>
              <a:rPr lang="en" sz="2800">
                <a:solidFill>
                  <a:srgbClr val="EBE9DA"/>
                </a:solidFill>
                <a:latin typeface="Montserrat"/>
                <a:ea typeface="Montserrat"/>
                <a:cs typeface="Montserrat"/>
                <a:sym typeface="Montserrat"/>
              </a:rPr>
              <a:t>Relax in Hyde Park or St. James’s Park.</a:t>
            </a:r>
            <a:endParaRPr sz="2800">
              <a:solidFill>
                <a:srgbClr val="EBE9D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EBE9D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508000" lvl="0" marL="457200" rtl="0" algn="l">
              <a:spcBef>
                <a:spcPts val="0"/>
              </a:spcBef>
              <a:spcAft>
                <a:spcPts val="0"/>
              </a:spcAft>
              <a:buClr>
                <a:srgbClr val="EBE9DA"/>
              </a:buClr>
              <a:buSzPts val="4400"/>
              <a:buChar char="●"/>
            </a:pPr>
            <a:r>
              <a:rPr lang="en" sz="2800">
                <a:solidFill>
                  <a:srgbClr val="EBE9DA"/>
                </a:solidFill>
                <a:latin typeface="Montserrat"/>
                <a:ea typeface="Montserrat"/>
                <a:cs typeface="Montserrat"/>
                <a:sym typeface="Montserrat"/>
              </a:rPr>
              <a:t>Join a walking tour for a fun cultural experience.</a:t>
            </a:r>
            <a:endParaRPr sz="2800">
              <a:solidFill>
                <a:srgbClr val="EBE9D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EBE9D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33"/>
          <p:cNvSpPr/>
          <p:nvPr/>
        </p:nvSpPr>
        <p:spPr>
          <a:xfrm>
            <a:off x="0" y="1179687"/>
            <a:ext cx="7289700" cy="900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4A4A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4"/>
          <p:cNvSpPr txBox="1"/>
          <p:nvPr/>
        </p:nvSpPr>
        <p:spPr>
          <a:xfrm>
            <a:off x="9432350" y="6160250"/>
            <a:ext cx="7366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171" name="Google Shape;171;p34"/>
          <p:cNvSpPr/>
          <p:nvPr/>
        </p:nvSpPr>
        <p:spPr>
          <a:xfrm>
            <a:off x="5159450" y="8893975"/>
            <a:ext cx="1184400" cy="33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4"/>
          <p:cNvSpPr txBox="1"/>
          <p:nvPr/>
        </p:nvSpPr>
        <p:spPr>
          <a:xfrm>
            <a:off x="854787" y="368697"/>
            <a:ext cx="56112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rgbClr val="EBE9D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Take a Short Day Trip </a:t>
            </a:r>
            <a:endParaRPr sz="3700">
              <a:solidFill>
                <a:schemeClr val="dk2"/>
              </a:solidFill>
            </a:endParaRPr>
          </a:p>
        </p:txBody>
      </p:sp>
      <p:sp>
        <p:nvSpPr>
          <p:cNvPr id="173" name="Google Shape;173;p34"/>
          <p:cNvSpPr txBox="1"/>
          <p:nvPr/>
        </p:nvSpPr>
        <p:spPr>
          <a:xfrm>
            <a:off x="621300" y="1833890"/>
            <a:ext cx="6072600" cy="72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EBE9D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Clr>
                <a:srgbClr val="EBE9DA"/>
              </a:buClr>
              <a:buSzPts val="3500"/>
              <a:buFont typeface="Montserrat"/>
              <a:buChar char="●"/>
            </a:pPr>
            <a:r>
              <a:rPr lang="en" sz="3500">
                <a:solidFill>
                  <a:srgbClr val="EBE9DA"/>
                </a:solidFill>
                <a:latin typeface="Montserrat"/>
                <a:ea typeface="Montserrat"/>
                <a:cs typeface="Montserrat"/>
                <a:sym typeface="Montserrat"/>
              </a:rPr>
              <a:t>Visit </a:t>
            </a:r>
            <a:r>
              <a:rPr lang="en" sz="3500">
                <a:solidFill>
                  <a:srgbClr val="EBE9DA"/>
                </a:solidFill>
                <a:latin typeface="Montserrat"/>
                <a:ea typeface="Montserrat"/>
                <a:cs typeface="Montserrat"/>
                <a:sym typeface="Montserrat"/>
              </a:rPr>
              <a:t>Windsor – home of Windsor Castle.</a:t>
            </a:r>
            <a:endParaRPr sz="3500">
              <a:solidFill>
                <a:srgbClr val="EBE9D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EBE9D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EBE9D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EBE9D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EBE9D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EBE9DA"/>
                </a:solidFill>
                <a:latin typeface="Montserrat"/>
                <a:ea typeface="Montserrat"/>
                <a:cs typeface="Montserrat"/>
                <a:sym typeface="Montserrat"/>
              </a:rPr>
              <a:t>Leave for this trip very early so you can be back in time for your flight</a:t>
            </a:r>
            <a:endParaRPr sz="3500">
              <a:solidFill>
                <a:srgbClr val="EBE9D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34"/>
          <p:cNvSpPr/>
          <p:nvPr/>
        </p:nvSpPr>
        <p:spPr>
          <a:xfrm>
            <a:off x="0" y="1179687"/>
            <a:ext cx="7289700" cy="900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5"/>
          <p:cNvSpPr/>
          <p:nvPr/>
        </p:nvSpPr>
        <p:spPr>
          <a:xfrm>
            <a:off x="176590" y="221968"/>
            <a:ext cx="6951900" cy="9628200"/>
          </a:xfrm>
          <a:prstGeom prst="rect">
            <a:avLst/>
          </a:prstGeom>
          <a:solidFill>
            <a:srgbClr val="444746"/>
          </a:solidFill>
          <a:ln>
            <a:noFill/>
          </a:ln>
        </p:spPr>
        <p:txBody>
          <a:bodyPr anchorCtr="0" anchor="ctr" bIns="87650" lIns="87650" spcFirstLastPara="1" rIns="87650" wrap="square" tIns="87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5"/>
          <p:cNvSpPr txBox="1"/>
          <p:nvPr/>
        </p:nvSpPr>
        <p:spPr>
          <a:xfrm>
            <a:off x="687625" y="1766375"/>
            <a:ext cx="3531000" cy="10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87650" lIns="87650" spcFirstLastPara="1" rIns="87650" wrap="square" tIns="87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EBE9D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BUDGET</a:t>
            </a:r>
            <a:endParaRPr sz="4000">
              <a:solidFill>
                <a:srgbClr val="EBE9D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p35"/>
          <p:cNvSpPr/>
          <p:nvPr/>
        </p:nvSpPr>
        <p:spPr>
          <a:xfrm>
            <a:off x="5159450" y="8893975"/>
            <a:ext cx="1184400" cy="33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82" name="Google Shape;182;p35"/>
          <p:cNvGraphicFramePr/>
          <p:nvPr/>
        </p:nvGraphicFramePr>
        <p:xfrm>
          <a:off x="687625" y="350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{ADEDEF67-B883-45D8-8B7B-BBF3838E658C}</a:tableStyleId>
              </a:tblPr>
              <a:tblGrid>
                <a:gridCol w="3450900"/>
                <a:gridCol w="2300600"/>
              </a:tblGrid>
              <a:tr h="596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EBE9DA"/>
                          </a:solidFill>
                        </a:rPr>
                        <a:t>Budget</a:t>
                      </a:r>
                      <a:endParaRPr sz="2400">
                        <a:solidFill>
                          <a:srgbClr val="EBE9DA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EBE9DA"/>
                          </a:solidFill>
                        </a:rPr>
                        <a:t>Cost (USD)</a:t>
                      </a:r>
                      <a:endParaRPr sz="2400">
                        <a:solidFill>
                          <a:srgbClr val="EBE9DA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96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EBE9DA"/>
                          </a:solidFill>
                        </a:rPr>
                        <a:t>Visa application process</a:t>
                      </a:r>
                      <a:endParaRPr sz="2400">
                        <a:solidFill>
                          <a:srgbClr val="EBE9DA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EBE9DA"/>
                          </a:solidFill>
                        </a:rPr>
                        <a:t>130</a:t>
                      </a:r>
                      <a:endParaRPr sz="2400">
                        <a:solidFill>
                          <a:srgbClr val="EBE9DA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96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EBE9DA"/>
                          </a:solidFill>
                        </a:rPr>
                        <a:t>Flights</a:t>
                      </a:r>
                      <a:endParaRPr sz="2400">
                        <a:solidFill>
                          <a:srgbClr val="EBE9DA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EBE9DA"/>
                          </a:solidFill>
                        </a:rPr>
                        <a:t>930</a:t>
                      </a:r>
                      <a:endParaRPr sz="2400">
                        <a:solidFill>
                          <a:srgbClr val="EBE9DA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96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EBE9DA"/>
                          </a:solidFill>
                        </a:rPr>
                        <a:t>Accommodation</a:t>
                      </a:r>
                      <a:endParaRPr sz="2400">
                        <a:solidFill>
                          <a:srgbClr val="EBE9DA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EBE9DA"/>
                          </a:solidFill>
                        </a:rPr>
                        <a:t>220</a:t>
                      </a:r>
                      <a:endParaRPr sz="2400">
                        <a:solidFill>
                          <a:srgbClr val="EBE9DA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96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EBE9DA"/>
                          </a:solidFill>
                        </a:rPr>
                        <a:t>Activities</a:t>
                      </a:r>
                      <a:endParaRPr sz="2400">
                        <a:solidFill>
                          <a:srgbClr val="EBE9DA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EBE9DA"/>
                          </a:solidFill>
                        </a:rPr>
                        <a:t>300</a:t>
                      </a:r>
                      <a:endParaRPr sz="2400">
                        <a:solidFill>
                          <a:srgbClr val="EBE9DA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96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EBE9DA"/>
                          </a:solidFill>
                        </a:rPr>
                        <a:t>Meals</a:t>
                      </a:r>
                      <a:endParaRPr sz="2400">
                        <a:solidFill>
                          <a:srgbClr val="EBE9DA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EBE9DA"/>
                          </a:solidFill>
                        </a:rPr>
                        <a:t>100</a:t>
                      </a:r>
                      <a:endParaRPr sz="2400">
                        <a:solidFill>
                          <a:srgbClr val="EBE9DA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96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EBE9DA"/>
                          </a:solidFill>
                        </a:rPr>
                        <a:t>Total cost</a:t>
                      </a:r>
                      <a:endParaRPr sz="2400">
                        <a:solidFill>
                          <a:srgbClr val="EBE9DA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EBE9DA"/>
                          </a:solidFill>
                        </a:rPr>
                        <a:t>1680</a:t>
                      </a:r>
                      <a:endParaRPr sz="2400">
                        <a:solidFill>
                          <a:srgbClr val="EBE9DA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6"/>
          <p:cNvSpPr/>
          <p:nvPr/>
        </p:nvSpPr>
        <p:spPr>
          <a:xfrm>
            <a:off x="176590" y="221968"/>
            <a:ext cx="6951900" cy="9628200"/>
          </a:xfrm>
          <a:prstGeom prst="rect">
            <a:avLst/>
          </a:prstGeom>
          <a:solidFill>
            <a:srgbClr val="444746"/>
          </a:solidFill>
          <a:ln>
            <a:noFill/>
          </a:ln>
        </p:spPr>
        <p:txBody>
          <a:bodyPr anchorCtr="0" anchor="ctr" bIns="87650" lIns="87650" spcFirstLastPara="1" rIns="87650" wrap="square" tIns="87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6"/>
          <p:cNvSpPr txBox="1"/>
          <p:nvPr/>
        </p:nvSpPr>
        <p:spPr>
          <a:xfrm>
            <a:off x="503275" y="814250"/>
            <a:ext cx="4453500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87650" lIns="87650" spcFirstLastPara="1" rIns="87650" wrap="square" tIns="87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EBE9D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Itinerary</a:t>
            </a:r>
            <a:endParaRPr sz="4800">
              <a:solidFill>
                <a:srgbClr val="EBE9D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aphicFrame>
        <p:nvGraphicFramePr>
          <p:cNvPr id="189" name="Google Shape;189;p36"/>
          <p:cNvGraphicFramePr/>
          <p:nvPr/>
        </p:nvGraphicFramePr>
        <p:xfrm>
          <a:off x="176625" y="27314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{ADEDEF67-B883-45D8-8B7B-BBF3838E658C}</a:tableStyleId>
              </a:tblPr>
              <a:tblGrid>
                <a:gridCol w="569025"/>
                <a:gridCol w="569025"/>
                <a:gridCol w="1707075"/>
                <a:gridCol w="4082575"/>
              </a:tblGrid>
              <a:tr h="795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Date</a:t>
                      </a:r>
                      <a:endParaRPr b="1" sz="1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Time</a:t>
                      </a:r>
                      <a:endParaRPr b="1" sz="1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Activity / Details</a:t>
                      </a:r>
                      <a:endParaRPr b="1" sz="1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Notes / Additional Info</a:t>
                      </a:r>
                      <a:endParaRPr b="1" sz="1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</a:tr>
              <a:tr h="44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Dec 20 (Fri)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10:00 PM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Flight: Lagos → London (Heathrow/Gatwick)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Flight duration ~6–7 hrs; keep passport, visa, and travel documents handy.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38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Dec 21 (Sat)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6:30 AM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Arrive in London, clear immigration, transfer to hotel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Hotel: Premier Inn London County Hall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638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Dec 21 (Sat)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9:00 AM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Explore Westminster: Buckingham Palace, Big Ben, Westminster Abbey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Walking tour; photo opportunities.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Dec 21 (Sat)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12:30 PM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Lunch at Southbank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Try local British dishes like fish &amp; chips.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44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Dec 21 (Sat)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2:00 PM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Ride the London Eye (Event Highlight)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Book tickets online; enjoy panoramic views of London for about 30–40 minutes.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Dec 21 (Sat)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5:30 PM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Dinner at a nearby restaurant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Options: The Ivy or Southbank Centre Café.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44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Dec 22 (Sun)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9:00 AM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Visit British Museum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Entry is free; spend 2–3 hours exploring exhibits.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Dec 22 (Sun)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12:30 PM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Lunch &amp; walk in Hyde Park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Relax and enjoy the scenery; optional boat ride or photography.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44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Dec 22 (Sun)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3:00 PM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Afternoon Tea at Fortnum &amp; Mason</a:t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Traditional British tea experience; book in advance.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